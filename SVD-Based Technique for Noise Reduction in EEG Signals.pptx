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Noto Serif Ethiopic Condensed Bold" charset="1" panose="02020502060505020204"/>
      <p:regular r:id="rId20"/>
    </p:embeddedFont>
    <p:embeddedFont>
      <p:font typeface="DM Sans" charset="1" panose="00000000000000000000"/>
      <p:regular r:id="rId21"/>
    </p:embeddedFont>
    <p:embeddedFont>
      <p:font typeface="Noto Serif Ethiopic Condensed" charset="1" panose="02020502060505020204"/>
      <p:regular r:id="rId22"/>
    </p:embeddedFont>
    <p:embeddedFont>
      <p:font typeface="Knewave" charset="1" panose="02000806000000020004"/>
      <p:regular r:id="rId23"/>
    </p:embeddedFont>
    <p:embeddedFont>
      <p:font typeface="DM Sans Bold" charset="1" panose="00000000000000000000"/>
      <p:regular r:id="rId24"/>
    </p:embeddedFont>
    <p:embeddedFont>
      <p:font typeface="DM Sans Italics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2" Target="../media/image31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48414"/>
            <a:ext cx="16230600" cy="8390172"/>
            <a:chOff x="0" y="0"/>
            <a:chExt cx="4274726" cy="22097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209757"/>
            </a:xfrm>
            <a:custGeom>
              <a:avLst/>
              <a:gdLst/>
              <a:ahLst/>
              <a:cxnLst/>
              <a:rect r="r" b="b" t="t" l="l"/>
              <a:pathLst>
                <a:path h="220975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209757"/>
                  </a:lnTo>
                  <a:lnTo>
                    <a:pt x="0" y="2209757"/>
                  </a:lnTo>
                  <a:close/>
                </a:path>
              </a:pathLst>
            </a:custGeom>
            <a:solidFill>
              <a:srgbClr val="F2E9DA"/>
            </a:solidFill>
            <a:ln w="76200" cap="sq">
              <a:solidFill>
                <a:srgbClr val="CDA083"/>
              </a:solidFill>
              <a:prstDash val="lg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47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45775">
            <a:off x="-641346" y="6951854"/>
            <a:ext cx="4178745" cy="4953254"/>
          </a:xfrm>
          <a:custGeom>
            <a:avLst/>
            <a:gdLst/>
            <a:ahLst/>
            <a:cxnLst/>
            <a:rect r="r" b="b" t="t" l="l"/>
            <a:pathLst>
              <a:path h="4953254" w="4178745">
                <a:moveTo>
                  <a:pt x="0" y="0"/>
                </a:moveTo>
                <a:lnTo>
                  <a:pt x="4178746" y="0"/>
                </a:lnTo>
                <a:lnTo>
                  <a:pt x="4178746" y="4953254"/>
                </a:lnTo>
                <a:lnTo>
                  <a:pt x="0" y="4953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771138">
            <a:off x="15635300" y="-1854681"/>
            <a:ext cx="4601363" cy="5454202"/>
          </a:xfrm>
          <a:custGeom>
            <a:avLst/>
            <a:gdLst/>
            <a:ahLst/>
            <a:cxnLst/>
            <a:rect r="r" b="b" t="t" l="l"/>
            <a:pathLst>
              <a:path h="5454202" w="4601363">
                <a:moveTo>
                  <a:pt x="0" y="0"/>
                </a:moveTo>
                <a:lnTo>
                  <a:pt x="4601363" y="0"/>
                </a:lnTo>
                <a:lnTo>
                  <a:pt x="4601363" y="5454202"/>
                </a:lnTo>
                <a:lnTo>
                  <a:pt x="0" y="545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215717">
            <a:off x="15650436" y="6390941"/>
            <a:ext cx="2194809" cy="4697061"/>
          </a:xfrm>
          <a:custGeom>
            <a:avLst/>
            <a:gdLst/>
            <a:ahLst/>
            <a:cxnLst/>
            <a:rect r="r" b="b" t="t" l="l"/>
            <a:pathLst>
              <a:path h="4697061" w="2194809">
                <a:moveTo>
                  <a:pt x="0" y="0"/>
                </a:moveTo>
                <a:lnTo>
                  <a:pt x="2194808" y="0"/>
                </a:lnTo>
                <a:lnTo>
                  <a:pt x="2194808" y="4697061"/>
                </a:lnTo>
                <a:lnTo>
                  <a:pt x="0" y="4697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470566">
            <a:off x="-529418" y="-476032"/>
            <a:ext cx="3116237" cy="5528807"/>
          </a:xfrm>
          <a:custGeom>
            <a:avLst/>
            <a:gdLst/>
            <a:ahLst/>
            <a:cxnLst/>
            <a:rect r="r" b="b" t="t" l="l"/>
            <a:pathLst>
              <a:path h="5528807" w="3116237">
                <a:moveTo>
                  <a:pt x="0" y="0"/>
                </a:moveTo>
                <a:lnTo>
                  <a:pt x="3116236" y="0"/>
                </a:lnTo>
                <a:lnTo>
                  <a:pt x="3116236" y="5528807"/>
                </a:lnTo>
                <a:lnTo>
                  <a:pt x="0" y="55288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39068" y="3215701"/>
            <a:ext cx="15609865" cy="2666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4"/>
              </a:lnSpc>
            </a:pPr>
            <a:r>
              <a:rPr lang="en-US" b="true" sz="7196" spc="359">
                <a:solidFill>
                  <a:srgbClr val="474A53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SVD-BASED NOISE REDUCTION IN EEG SIGNALS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48545" y="6214901"/>
            <a:ext cx="11390911" cy="142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8"/>
              </a:lnSpc>
            </a:pPr>
            <a:r>
              <a:rPr lang="en-US" sz="4091" spc="654">
                <a:solidFill>
                  <a:srgbClr val="975B3F"/>
                </a:solidFill>
                <a:latin typeface="DM Sans"/>
                <a:ea typeface="DM Sans"/>
                <a:cs typeface="DM Sans"/>
                <a:sym typeface="DM Sans"/>
              </a:rPr>
              <a:t> A Linear Algebra Approach to</a:t>
            </a:r>
          </a:p>
          <a:p>
            <a:pPr algn="ctr">
              <a:lnSpc>
                <a:spcPts val="5728"/>
              </a:lnSpc>
            </a:pPr>
            <a:r>
              <a:rPr lang="en-US" sz="4091" spc="654">
                <a:solidFill>
                  <a:srgbClr val="975B3F"/>
                </a:solidFill>
                <a:latin typeface="DM Sans"/>
                <a:ea typeface="DM Sans"/>
                <a:cs typeface="DM Sans"/>
                <a:sym typeface="DM Sans"/>
              </a:rPr>
              <a:t>Biomedical Signal Enhancement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59138" y="8196441"/>
            <a:ext cx="12438661" cy="1028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8"/>
              </a:lnSpc>
            </a:pPr>
            <a:r>
              <a:rPr lang="en-US" sz="2991" spc="478">
                <a:solidFill>
                  <a:srgbClr val="474A53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Presented by: Manohar P, Mrudula, Sainath, Pushpak (Team - 9)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48414"/>
            <a:ext cx="16230600" cy="8390172"/>
            <a:chOff x="0" y="0"/>
            <a:chExt cx="4274726" cy="22097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209757"/>
            </a:xfrm>
            <a:custGeom>
              <a:avLst/>
              <a:gdLst/>
              <a:ahLst/>
              <a:cxnLst/>
              <a:rect r="r" b="b" t="t" l="l"/>
              <a:pathLst>
                <a:path h="220975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209757"/>
                  </a:lnTo>
                  <a:lnTo>
                    <a:pt x="0" y="2209757"/>
                  </a:lnTo>
                  <a:close/>
                </a:path>
              </a:pathLst>
            </a:custGeom>
            <a:solidFill>
              <a:srgbClr val="F2E9DA"/>
            </a:solidFill>
            <a:ln w="76200" cap="sq">
              <a:solidFill>
                <a:srgbClr val="CDA083"/>
              </a:solidFill>
              <a:prstDash val="lg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47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45775">
            <a:off x="-1309073" y="7290542"/>
            <a:ext cx="3948590" cy="4680441"/>
          </a:xfrm>
          <a:custGeom>
            <a:avLst/>
            <a:gdLst/>
            <a:ahLst/>
            <a:cxnLst/>
            <a:rect r="r" b="b" t="t" l="l"/>
            <a:pathLst>
              <a:path h="4680441" w="3948590">
                <a:moveTo>
                  <a:pt x="0" y="0"/>
                </a:moveTo>
                <a:lnTo>
                  <a:pt x="3948591" y="0"/>
                </a:lnTo>
                <a:lnTo>
                  <a:pt x="3948591" y="4680441"/>
                </a:lnTo>
                <a:lnTo>
                  <a:pt x="0" y="4680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215717">
            <a:off x="15650436" y="6390941"/>
            <a:ext cx="2194809" cy="4697061"/>
          </a:xfrm>
          <a:custGeom>
            <a:avLst/>
            <a:gdLst/>
            <a:ahLst/>
            <a:cxnLst/>
            <a:rect r="r" b="b" t="t" l="l"/>
            <a:pathLst>
              <a:path h="4697061" w="2194809">
                <a:moveTo>
                  <a:pt x="0" y="0"/>
                </a:moveTo>
                <a:lnTo>
                  <a:pt x="2194808" y="0"/>
                </a:lnTo>
                <a:lnTo>
                  <a:pt x="2194808" y="4697061"/>
                </a:lnTo>
                <a:lnTo>
                  <a:pt x="0" y="4697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470566">
            <a:off x="-529418" y="-476032"/>
            <a:ext cx="3116237" cy="5528807"/>
          </a:xfrm>
          <a:custGeom>
            <a:avLst/>
            <a:gdLst/>
            <a:ahLst/>
            <a:cxnLst/>
            <a:rect r="r" b="b" t="t" l="l"/>
            <a:pathLst>
              <a:path h="5528807" w="3116237">
                <a:moveTo>
                  <a:pt x="0" y="0"/>
                </a:moveTo>
                <a:lnTo>
                  <a:pt x="3116236" y="0"/>
                </a:lnTo>
                <a:lnTo>
                  <a:pt x="3116236" y="5528807"/>
                </a:lnTo>
                <a:lnTo>
                  <a:pt x="0" y="55288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96951" y="1564299"/>
            <a:ext cx="12094098" cy="130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91"/>
              </a:lnSpc>
            </a:pPr>
            <a:r>
              <a:rPr lang="en-US" sz="9099">
                <a:solidFill>
                  <a:srgbClr val="474A53"/>
                </a:solidFill>
                <a:latin typeface="Knewave"/>
                <a:ea typeface="Knewave"/>
                <a:cs typeface="Knewave"/>
                <a:sym typeface="Knewave"/>
              </a:rPr>
              <a:t>Problem Statement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6870" y="3394865"/>
            <a:ext cx="14455773" cy="554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2479" indent="-381239" lvl="1">
              <a:lnSpc>
                <a:spcPts val="49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31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The Objective: </a:t>
            </a:r>
            <a:r>
              <a:rPr lang="en-US" sz="3531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Extract weak Electroencephalogram (EEG) signals hidden within strong Electrooculogram (EOG/eye movement) artefacts.</a:t>
            </a:r>
          </a:p>
          <a:p>
            <a:pPr algn="l" marL="762479" indent="-381239" lvl="1">
              <a:lnSpc>
                <a:spcPts val="49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31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The Challenge:</a:t>
            </a:r>
            <a:r>
              <a:rPr lang="en-US" sz="3531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EOG signals are in the millivolt range, while EEG signals are in the microvolt range. The "noise" (EOG) is energetically stronger than the "signal" (EEG).</a:t>
            </a:r>
          </a:p>
          <a:p>
            <a:pPr algn="l" marL="762479" indent="-381239" lvl="1">
              <a:lnSpc>
                <a:spcPts val="49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31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Th</a:t>
            </a:r>
            <a:r>
              <a:rPr lang="en-US" b="true" sz="3531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e Hypothesis:</a:t>
            </a:r>
            <a:r>
              <a:rPr lang="en-US" sz="3531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EEG and EOG signals are uncorrelated and orthogonal to each other. </a:t>
            </a:r>
            <a:r>
              <a:rPr lang="en-US" sz="3531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This g</a:t>
            </a:r>
            <a:r>
              <a:rPr lang="en-US" sz="3531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eometric property allows for separation using linear basis transformations.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91049" y="1076325"/>
            <a:ext cx="2463187" cy="87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84"/>
              </a:lnSpc>
            </a:pPr>
            <a:r>
              <a:rPr lang="en-US" b="true" sz="6057">
                <a:solidFill>
                  <a:srgbClr val="F2E9DA"/>
                </a:solidFill>
                <a:latin typeface="DM Sans Bold"/>
                <a:ea typeface="DM Sans Bold"/>
                <a:cs typeface="DM Sans Bold"/>
                <a:sym typeface="DM Sans Bold"/>
              </a:rPr>
              <a:t>Intro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0075" y="353101"/>
            <a:ext cx="17302162" cy="9318860"/>
            <a:chOff x="0" y="0"/>
            <a:chExt cx="4556948" cy="2454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56948" cy="2454350"/>
            </a:xfrm>
            <a:custGeom>
              <a:avLst/>
              <a:gdLst/>
              <a:ahLst/>
              <a:cxnLst/>
              <a:rect r="r" b="b" t="t" l="l"/>
              <a:pathLst>
                <a:path h="2454350" w="4556948">
                  <a:moveTo>
                    <a:pt x="0" y="0"/>
                  </a:moveTo>
                  <a:lnTo>
                    <a:pt x="4556948" y="0"/>
                  </a:lnTo>
                  <a:lnTo>
                    <a:pt x="4556948" y="2454350"/>
                  </a:lnTo>
                  <a:lnTo>
                    <a:pt x="0" y="2454350"/>
                  </a:lnTo>
                  <a:close/>
                </a:path>
              </a:pathLst>
            </a:custGeom>
            <a:solidFill>
              <a:srgbClr val="F2E9DA"/>
            </a:solidFill>
            <a:ln w="76200" cap="sq">
              <a:solidFill>
                <a:srgbClr val="CDA083"/>
              </a:solidFill>
              <a:prstDash val="lg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56948" cy="249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45775">
            <a:off x="-750362" y="7952960"/>
            <a:ext cx="3237708" cy="3837801"/>
          </a:xfrm>
          <a:custGeom>
            <a:avLst/>
            <a:gdLst/>
            <a:ahLst/>
            <a:cxnLst/>
            <a:rect r="r" b="b" t="t" l="l"/>
            <a:pathLst>
              <a:path h="3837801" w="3237708">
                <a:moveTo>
                  <a:pt x="0" y="0"/>
                </a:moveTo>
                <a:lnTo>
                  <a:pt x="3237708" y="0"/>
                </a:lnTo>
                <a:lnTo>
                  <a:pt x="3237708" y="3837801"/>
                </a:lnTo>
                <a:lnTo>
                  <a:pt x="0" y="3837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8331">
            <a:off x="16161896" y="6909769"/>
            <a:ext cx="2194809" cy="4697061"/>
          </a:xfrm>
          <a:custGeom>
            <a:avLst/>
            <a:gdLst/>
            <a:ahLst/>
            <a:cxnLst/>
            <a:rect r="r" b="b" t="t" l="l"/>
            <a:pathLst>
              <a:path h="4697061" w="2194809">
                <a:moveTo>
                  <a:pt x="0" y="0"/>
                </a:moveTo>
                <a:lnTo>
                  <a:pt x="2194808" y="0"/>
                </a:lnTo>
                <a:lnTo>
                  <a:pt x="2194808" y="4697062"/>
                </a:lnTo>
                <a:lnTo>
                  <a:pt x="0" y="4697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95375"/>
            <a:ext cx="16433621" cy="112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48"/>
              </a:lnSpc>
            </a:pPr>
            <a:r>
              <a:rPr lang="en-US" sz="7900">
                <a:solidFill>
                  <a:srgbClr val="474A53"/>
                </a:solidFill>
                <a:latin typeface="Knewave"/>
                <a:ea typeface="Knewave"/>
                <a:cs typeface="Knewave"/>
                <a:sym typeface="Knewave"/>
              </a:rPr>
              <a:t>Matrix Formulation of the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5416" y="2551587"/>
            <a:ext cx="15334203" cy="6984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535" indent="-392768" lvl="1">
              <a:lnSpc>
                <a:spcPts val="50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638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Data Construction: </a:t>
            </a:r>
            <a:r>
              <a:rPr lang="en-US" sz="3638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We construct a data matrix                , where:</a:t>
            </a:r>
          </a:p>
          <a:p>
            <a:pPr algn="l" marL="785535" indent="-392768" lvl="1">
              <a:lnSpc>
                <a:spcPts val="5093"/>
              </a:lnSpc>
              <a:spcBef>
                <a:spcPct val="0"/>
              </a:spcBef>
              <a:buFont typeface="Arial"/>
              <a:buChar char="•"/>
            </a:pPr>
            <a:r>
              <a:rPr lang="en-US" sz="3638" i="true">
                <a:solidFill>
                  <a:srgbClr val="474A5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</a:t>
            </a:r>
            <a:r>
              <a:rPr lang="en-US" sz="3638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= Number of observed channels (electrodes), </a:t>
            </a:r>
            <a:r>
              <a:rPr lang="en-US" sz="3638" i="true">
                <a:solidFill>
                  <a:srgbClr val="474A5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q</a:t>
            </a:r>
            <a:r>
              <a:rPr lang="en-US" sz="3638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= Number of time samples recorded.</a:t>
            </a:r>
          </a:p>
          <a:p>
            <a:pPr algn="l" marL="785535" indent="-392768" lvl="1">
              <a:lnSpc>
                <a:spcPts val="50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638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The Linear Model:</a:t>
            </a:r>
            <a:r>
              <a:rPr lang="en-US" sz="3638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The observed signal is modelled as a linear combination of source signals and noise:</a:t>
            </a:r>
          </a:p>
          <a:p>
            <a:pPr algn="ctr">
              <a:lnSpc>
                <a:spcPts val="5093"/>
              </a:lnSpc>
              <a:spcBef>
                <a:spcPct val="0"/>
              </a:spcBef>
            </a:pPr>
            <a:r>
              <a:rPr lang="en-US" sz="3638" i="true">
                <a:solidFill>
                  <a:srgbClr val="474A5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M</a:t>
            </a:r>
            <a:r>
              <a:rPr lang="en-US" sz="3638" i="true">
                <a:solidFill>
                  <a:srgbClr val="474A5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=TS + N</a:t>
            </a:r>
          </a:p>
          <a:p>
            <a:pPr algn="l" marL="785535" indent="-392768" lvl="1">
              <a:lnSpc>
                <a:spcPts val="5093"/>
              </a:lnSpc>
              <a:spcBef>
                <a:spcPct val="0"/>
              </a:spcBef>
              <a:buFont typeface="Arial"/>
              <a:buChar char="•"/>
            </a:pPr>
            <a:r>
              <a:rPr lang="en-US" sz="3638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             :</a:t>
            </a:r>
            <a:r>
              <a:rPr lang="en-US" sz="3638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Mixing matrix (weighting coefficients).</a:t>
            </a:r>
          </a:p>
          <a:p>
            <a:pPr algn="l" marL="785535" indent="-392768" lvl="1">
              <a:lnSpc>
                <a:spcPts val="5093"/>
              </a:lnSpc>
              <a:spcBef>
                <a:spcPct val="0"/>
              </a:spcBef>
              <a:buFont typeface="Arial"/>
              <a:buChar char="•"/>
            </a:pPr>
            <a:r>
              <a:rPr lang="en-US" sz="3638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             </a:t>
            </a:r>
            <a:r>
              <a:rPr lang="en-US" sz="3638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: Source signals (EOG artifacts),                : The desired "noise" signals (Pure EEG).</a:t>
            </a:r>
          </a:p>
          <a:p>
            <a:pPr algn="l" marL="785535" indent="-392768" lvl="1">
              <a:lnSpc>
                <a:spcPts val="5093"/>
              </a:lnSpc>
              <a:spcBef>
                <a:spcPct val="0"/>
              </a:spcBef>
              <a:buFont typeface="Arial"/>
              <a:buChar char="•"/>
            </a:pPr>
            <a:r>
              <a:rPr lang="en-US" sz="3638" i="true">
                <a:solidFill>
                  <a:srgbClr val="474A5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 </a:t>
            </a:r>
            <a:r>
              <a:rPr lang="en-US" sz="3638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: Rank of the artifact source (number of independent EOG sources).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562329" y="2515552"/>
            <a:ext cx="2270796" cy="709017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37424" y="6396763"/>
            <a:ext cx="1938666" cy="650169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359416" y="7060242"/>
            <a:ext cx="1894682" cy="642838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750251" y="6967990"/>
            <a:ext cx="2183249" cy="7591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5654" y="346611"/>
            <a:ext cx="17251519" cy="9034181"/>
            <a:chOff x="0" y="0"/>
            <a:chExt cx="4543610" cy="23793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3610" cy="2379373"/>
            </a:xfrm>
            <a:custGeom>
              <a:avLst/>
              <a:gdLst/>
              <a:ahLst/>
              <a:cxnLst/>
              <a:rect r="r" b="b" t="t" l="l"/>
              <a:pathLst>
                <a:path h="2379373" w="4543610">
                  <a:moveTo>
                    <a:pt x="0" y="0"/>
                  </a:moveTo>
                  <a:lnTo>
                    <a:pt x="4543610" y="0"/>
                  </a:lnTo>
                  <a:lnTo>
                    <a:pt x="4543610" y="2379373"/>
                  </a:lnTo>
                  <a:lnTo>
                    <a:pt x="0" y="2379373"/>
                  </a:lnTo>
                  <a:close/>
                </a:path>
              </a:pathLst>
            </a:custGeom>
            <a:solidFill>
              <a:srgbClr val="F2E9DA"/>
            </a:solidFill>
            <a:ln w="76200" cap="sq">
              <a:solidFill>
                <a:srgbClr val="CDA083"/>
              </a:solidFill>
              <a:prstDash val="lg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3610" cy="2417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45775">
            <a:off x="-1184063" y="8384424"/>
            <a:ext cx="3237708" cy="3837801"/>
          </a:xfrm>
          <a:custGeom>
            <a:avLst/>
            <a:gdLst/>
            <a:ahLst/>
            <a:cxnLst/>
            <a:rect r="r" b="b" t="t" l="l"/>
            <a:pathLst>
              <a:path h="3837801" w="3237708">
                <a:moveTo>
                  <a:pt x="0" y="0"/>
                </a:moveTo>
                <a:lnTo>
                  <a:pt x="3237708" y="0"/>
                </a:lnTo>
                <a:lnTo>
                  <a:pt x="3237708" y="3837801"/>
                </a:lnTo>
                <a:lnTo>
                  <a:pt x="0" y="3837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8331">
            <a:off x="16816883" y="7573166"/>
            <a:ext cx="2194809" cy="4697061"/>
          </a:xfrm>
          <a:custGeom>
            <a:avLst/>
            <a:gdLst/>
            <a:ahLst/>
            <a:cxnLst/>
            <a:rect r="r" b="b" t="t" l="l"/>
            <a:pathLst>
              <a:path h="4697061" w="2194809">
                <a:moveTo>
                  <a:pt x="0" y="0"/>
                </a:moveTo>
                <a:lnTo>
                  <a:pt x="2194809" y="0"/>
                </a:lnTo>
                <a:lnTo>
                  <a:pt x="2194809" y="4697061"/>
                </a:lnTo>
                <a:lnTo>
                  <a:pt x="0" y="4697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67846" y="847799"/>
            <a:ext cx="13552309" cy="174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32"/>
              </a:lnSpc>
            </a:pPr>
            <a:r>
              <a:rPr lang="en-US" sz="6100">
                <a:solidFill>
                  <a:srgbClr val="474A53"/>
                </a:solidFill>
                <a:latin typeface="Knewave"/>
                <a:ea typeface="Knewave"/>
                <a:cs typeface="Knewave"/>
                <a:sym typeface="Knewave"/>
              </a:rPr>
              <a:t> Singular Value Decomposition (SVD) - The Tool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7230" y="2786200"/>
            <a:ext cx="16611812" cy="587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5"/>
              </a:lnSpc>
              <a:spcBef>
                <a:spcPct val="0"/>
              </a:spcBef>
            </a:pPr>
            <a:r>
              <a:rPr lang="en-US" b="true" sz="3353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Definition: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Any real matrix                   (where </a:t>
            </a:r>
            <a:r>
              <a:rPr lang="en-US" sz="3353" i="true">
                <a:solidFill>
                  <a:srgbClr val="474A5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 &lt; q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) can be decomposed into: </a:t>
            </a:r>
          </a:p>
          <a:p>
            <a:pPr algn="l">
              <a:lnSpc>
                <a:spcPts val="4695"/>
              </a:lnSpc>
              <a:spcBef>
                <a:spcPct val="0"/>
              </a:spcBef>
            </a:pPr>
          </a:p>
          <a:p>
            <a:pPr algn="l">
              <a:lnSpc>
                <a:spcPts val="4695"/>
              </a:lnSpc>
              <a:spcBef>
                <a:spcPct val="0"/>
              </a:spcBef>
            </a:pPr>
            <a:r>
              <a:rPr lang="en-US" b="true" sz="3353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Components:</a:t>
            </a:r>
          </a:p>
          <a:p>
            <a:pPr algn="l" marL="724116" indent="-362058" lvl="1">
              <a:lnSpc>
                <a:spcPts val="4695"/>
              </a:lnSpc>
              <a:spcBef>
                <a:spcPct val="0"/>
              </a:spcBef>
              <a:buFont typeface="Arial"/>
              <a:buChar char="•"/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                : Left singular vectors (Orthonormal basis for the electrode space).</a:t>
            </a:r>
          </a:p>
          <a:p>
            <a:pPr algn="l" marL="724116" indent="-362058" lvl="1">
              <a:lnSpc>
                <a:spcPts val="4695"/>
              </a:lnSpc>
              <a:spcBef>
                <a:spcPct val="0"/>
              </a:spcBef>
              <a:buFont typeface="Arial"/>
              <a:buChar char="•"/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                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: Right singular vectors (Orthonormal basis for the time space).</a:t>
            </a:r>
          </a:p>
          <a:p>
            <a:pPr algn="l" marL="724116" indent="-362058" lvl="1">
              <a:lnSpc>
                <a:spcPts val="4695"/>
              </a:lnSpc>
              <a:spcBef>
                <a:spcPct val="0"/>
              </a:spcBef>
              <a:buFont typeface="Arial"/>
              <a:buChar char="•"/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                : Diagonal matrix of singula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r values.</a:t>
            </a:r>
          </a:p>
          <a:p>
            <a:pPr algn="l">
              <a:lnSpc>
                <a:spcPts val="4695"/>
              </a:lnSpc>
              <a:spcBef>
                <a:spcPct val="0"/>
              </a:spcBef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 </a:t>
            </a:r>
          </a:p>
          <a:p>
            <a:pPr algn="l">
              <a:lnSpc>
                <a:spcPts val="4695"/>
              </a:lnSpc>
              <a:spcBef>
                <a:spcPct val="0"/>
              </a:spcBef>
            </a:pPr>
          </a:p>
          <a:p>
            <a:pPr algn="l" marL="724116" indent="-362058" lvl="1">
              <a:lnSpc>
                <a:spcPts val="4695"/>
              </a:lnSpc>
              <a:spcBef>
                <a:spcPct val="0"/>
              </a:spcBef>
              <a:buFont typeface="Arial"/>
              <a:buChar char="•"/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Mathematical Significance: Th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singular values      represent the energy or information content along the direction of the corresponding singular vectors      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039453" y="2785973"/>
            <a:ext cx="2270796" cy="709017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121784" y="3264970"/>
            <a:ext cx="3443538" cy="1076574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46300" y="4576582"/>
            <a:ext cx="2321743" cy="775127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31669" y="5152751"/>
            <a:ext cx="2551006" cy="813338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57218" y="5768950"/>
            <a:ext cx="2299908" cy="771488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181700" y="5717839"/>
            <a:ext cx="7323707" cy="1764532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203012" y="6579467"/>
            <a:ext cx="4847275" cy="1165723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814000" y="7738500"/>
            <a:ext cx="473082" cy="336616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874778" y="8273898"/>
            <a:ext cx="473082" cy="3426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5654" y="346611"/>
            <a:ext cx="17251519" cy="9034181"/>
            <a:chOff x="0" y="0"/>
            <a:chExt cx="4543610" cy="23793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3610" cy="2379373"/>
            </a:xfrm>
            <a:custGeom>
              <a:avLst/>
              <a:gdLst/>
              <a:ahLst/>
              <a:cxnLst/>
              <a:rect r="r" b="b" t="t" l="l"/>
              <a:pathLst>
                <a:path h="2379373" w="4543610">
                  <a:moveTo>
                    <a:pt x="0" y="0"/>
                  </a:moveTo>
                  <a:lnTo>
                    <a:pt x="4543610" y="0"/>
                  </a:lnTo>
                  <a:lnTo>
                    <a:pt x="4543610" y="2379373"/>
                  </a:lnTo>
                  <a:lnTo>
                    <a:pt x="0" y="2379373"/>
                  </a:lnTo>
                  <a:close/>
                </a:path>
              </a:pathLst>
            </a:custGeom>
            <a:solidFill>
              <a:srgbClr val="F2E9DA"/>
            </a:solidFill>
            <a:ln w="76200" cap="sq">
              <a:solidFill>
                <a:srgbClr val="CDA083"/>
              </a:solidFill>
              <a:prstDash val="lg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3610" cy="2417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45775">
            <a:off x="-1184063" y="8384424"/>
            <a:ext cx="3237708" cy="3837801"/>
          </a:xfrm>
          <a:custGeom>
            <a:avLst/>
            <a:gdLst/>
            <a:ahLst/>
            <a:cxnLst/>
            <a:rect r="r" b="b" t="t" l="l"/>
            <a:pathLst>
              <a:path h="3837801" w="3237708">
                <a:moveTo>
                  <a:pt x="0" y="0"/>
                </a:moveTo>
                <a:lnTo>
                  <a:pt x="3237708" y="0"/>
                </a:lnTo>
                <a:lnTo>
                  <a:pt x="3237708" y="3837801"/>
                </a:lnTo>
                <a:lnTo>
                  <a:pt x="0" y="3837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8331">
            <a:off x="16816883" y="7573166"/>
            <a:ext cx="2194809" cy="4697061"/>
          </a:xfrm>
          <a:custGeom>
            <a:avLst/>
            <a:gdLst/>
            <a:ahLst/>
            <a:cxnLst/>
            <a:rect r="r" b="b" t="t" l="l"/>
            <a:pathLst>
              <a:path h="4697061" w="2194809">
                <a:moveTo>
                  <a:pt x="0" y="0"/>
                </a:moveTo>
                <a:lnTo>
                  <a:pt x="2194809" y="0"/>
                </a:lnTo>
                <a:lnTo>
                  <a:pt x="2194809" y="4697061"/>
                </a:lnTo>
                <a:lnTo>
                  <a:pt x="0" y="4697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67846" y="847799"/>
            <a:ext cx="13552309" cy="88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32"/>
              </a:lnSpc>
            </a:pPr>
            <a:r>
              <a:rPr lang="en-US" sz="6100">
                <a:solidFill>
                  <a:srgbClr val="474A53"/>
                </a:solidFill>
                <a:latin typeface="Knewave"/>
                <a:ea typeface="Knewave"/>
                <a:cs typeface="Knewave"/>
                <a:sym typeface="Knewave"/>
              </a:rPr>
              <a:t> Subspace Decomposition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8094" y="2045142"/>
            <a:ext cx="16611812" cy="705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5"/>
              </a:lnSpc>
              <a:spcBef>
                <a:spcPct val="0"/>
              </a:spcBef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true" sz="3353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Partitioning the Space: 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The matrix is split into two orthogonal subspaces based on</a:t>
            </a:r>
          </a:p>
          <a:p>
            <a:pPr algn="l">
              <a:lnSpc>
                <a:spcPts val="4695"/>
              </a:lnSpc>
              <a:spcBef>
                <a:spcPct val="0"/>
              </a:spcBef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energy (singular values):</a:t>
            </a:r>
          </a:p>
          <a:p>
            <a:pPr algn="l">
              <a:lnSpc>
                <a:spcPts val="4695"/>
              </a:lnSpc>
              <a:spcBef>
                <a:spcPct val="0"/>
              </a:spcBef>
            </a:pPr>
          </a:p>
          <a:p>
            <a:pPr algn="l">
              <a:lnSpc>
                <a:spcPts val="4695"/>
              </a:lnSpc>
              <a:spcBef>
                <a:spcPct val="0"/>
              </a:spcBef>
            </a:pPr>
          </a:p>
          <a:p>
            <a:pPr algn="l" marL="724116" indent="-362058" lvl="1">
              <a:lnSpc>
                <a:spcPts val="4695"/>
              </a:lnSpc>
              <a:buFont typeface="Arial"/>
              <a:buChar char="•"/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       (Signal Subspace): Contains the largest</a:t>
            </a:r>
            <a:r>
              <a:rPr lang="en-US" sz="3353" i="true">
                <a:solidFill>
                  <a:srgbClr val="474A5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r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singular values. Since EOG artefacts have high amplitude (millivolts), they dominate this subspace.</a:t>
            </a:r>
          </a:p>
          <a:p>
            <a:pPr algn="l" marL="724116" indent="-362058" lvl="1">
              <a:lnSpc>
                <a:spcPts val="4695"/>
              </a:lnSpc>
              <a:buFont typeface="Arial"/>
              <a:buChar char="•"/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      (Noise Subspace): Contains the remaining</a:t>
            </a:r>
            <a:r>
              <a:rPr lang="en-US" sz="3353" i="true">
                <a:solidFill>
                  <a:srgbClr val="474A5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P-r 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singular values. The weaker EEG signals (microvolts) reside here.</a:t>
            </a:r>
          </a:p>
          <a:p>
            <a:pPr algn="l">
              <a:lnSpc>
                <a:spcPts val="4695"/>
              </a:lnSpc>
              <a:spcBef>
                <a:spcPct val="0"/>
              </a:spcBef>
            </a:pPr>
            <a:r>
              <a:rPr lang="en-US" b="true" sz="3353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Basis Vector Partitioning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: The unitary matrix U is similarly partitioned:</a:t>
            </a:r>
          </a:p>
          <a:p>
            <a:pPr algn="ctr">
              <a:lnSpc>
                <a:spcPts val="4695"/>
              </a:lnSpc>
              <a:spcBef>
                <a:spcPct val="0"/>
              </a:spcBef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l" marL="724116" indent="-362058" lvl="1">
              <a:lnSpc>
                <a:spcPts val="4695"/>
              </a:lnSpc>
              <a:buFont typeface="Arial"/>
              <a:buChar char="•"/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     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: Spans the EOG artefact subspace.</a:t>
            </a:r>
          </a:p>
          <a:p>
            <a:pPr algn="l" marL="724116" indent="-362058" lvl="1">
              <a:lnSpc>
                <a:spcPts val="4695"/>
              </a:lnSpc>
              <a:buFont typeface="Arial"/>
              <a:buChar char="•"/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    : Spans the clean EEG subspace.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707849" y="2774136"/>
            <a:ext cx="4222272" cy="2009105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37918" y="4469352"/>
            <a:ext cx="701786" cy="549378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6670" y="5625516"/>
            <a:ext cx="757079" cy="558594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80388" y="7243602"/>
            <a:ext cx="3662050" cy="1124277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74241" y="8031768"/>
            <a:ext cx="590297" cy="475826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16437" y="8673046"/>
            <a:ext cx="638560" cy="4838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5654" y="346611"/>
            <a:ext cx="17251519" cy="9034181"/>
            <a:chOff x="0" y="0"/>
            <a:chExt cx="4543610" cy="23793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3610" cy="2379373"/>
            </a:xfrm>
            <a:custGeom>
              <a:avLst/>
              <a:gdLst/>
              <a:ahLst/>
              <a:cxnLst/>
              <a:rect r="r" b="b" t="t" l="l"/>
              <a:pathLst>
                <a:path h="2379373" w="4543610">
                  <a:moveTo>
                    <a:pt x="0" y="0"/>
                  </a:moveTo>
                  <a:lnTo>
                    <a:pt x="4543610" y="0"/>
                  </a:lnTo>
                  <a:lnTo>
                    <a:pt x="4543610" y="2379373"/>
                  </a:lnTo>
                  <a:lnTo>
                    <a:pt x="0" y="2379373"/>
                  </a:lnTo>
                  <a:close/>
                </a:path>
              </a:pathLst>
            </a:custGeom>
            <a:solidFill>
              <a:srgbClr val="F2E9DA"/>
            </a:solidFill>
            <a:ln w="76200" cap="sq">
              <a:solidFill>
                <a:srgbClr val="CDA083"/>
              </a:solidFill>
              <a:prstDash val="lg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3610" cy="2417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45775">
            <a:off x="-1184063" y="8384424"/>
            <a:ext cx="3237708" cy="3837801"/>
          </a:xfrm>
          <a:custGeom>
            <a:avLst/>
            <a:gdLst/>
            <a:ahLst/>
            <a:cxnLst/>
            <a:rect r="r" b="b" t="t" l="l"/>
            <a:pathLst>
              <a:path h="3837801" w="3237708">
                <a:moveTo>
                  <a:pt x="0" y="0"/>
                </a:moveTo>
                <a:lnTo>
                  <a:pt x="3237708" y="0"/>
                </a:lnTo>
                <a:lnTo>
                  <a:pt x="3237708" y="3837801"/>
                </a:lnTo>
                <a:lnTo>
                  <a:pt x="0" y="3837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8331">
            <a:off x="16816883" y="7573166"/>
            <a:ext cx="2194809" cy="4697061"/>
          </a:xfrm>
          <a:custGeom>
            <a:avLst/>
            <a:gdLst/>
            <a:ahLst/>
            <a:cxnLst/>
            <a:rect r="r" b="b" t="t" l="l"/>
            <a:pathLst>
              <a:path h="4697061" w="2194809">
                <a:moveTo>
                  <a:pt x="0" y="0"/>
                </a:moveTo>
                <a:lnTo>
                  <a:pt x="2194809" y="0"/>
                </a:lnTo>
                <a:lnTo>
                  <a:pt x="2194809" y="4697061"/>
                </a:lnTo>
                <a:lnTo>
                  <a:pt x="0" y="4697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67846" y="847799"/>
            <a:ext cx="13552309" cy="88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32"/>
              </a:lnSpc>
            </a:pPr>
            <a:r>
              <a:rPr lang="en-US" sz="6100">
                <a:solidFill>
                  <a:srgbClr val="474A53"/>
                </a:solidFill>
                <a:latin typeface="Knewave"/>
                <a:ea typeface="Knewave"/>
                <a:cs typeface="Knewave"/>
                <a:sym typeface="Knewave"/>
              </a:rPr>
              <a:t>The Separation Algorithm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8094" y="1942757"/>
            <a:ext cx="16611812" cy="705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5"/>
              </a:lnSpc>
              <a:spcBef>
                <a:spcPct val="0"/>
              </a:spcBef>
            </a:pPr>
            <a:r>
              <a:rPr lang="en-US" b="true" sz="3353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Projection: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We 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roje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the data matrix M onto the new orthonormal basis </a:t>
            </a:r>
          </a:p>
          <a:p>
            <a:pPr algn="l">
              <a:lnSpc>
                <a:spcPts val="4695"/>
              </a:lnSpc>
              <a:spcBef>
                <a:spcPct val="0"/>
              </a:spcBef>
            </a:pPr>
          </a:p>
          <a:p>
            <a:pPr algn="l">
              <a:lnSpc>
                <a:spcPts val="4695"/>
              </a:lnSpc>
              <a:spcBef>
                <a:spcPct val="0"/>
              </a:spcBef>
            </a:pPr>
          </a:p>
          <a:p>
            <a:pPr algn="l">
              <a:lnSpc>
                <a:spcPts val="4695"/>
              </a:lnSpc>
              <a:spcBef>
                <a:spcPct val="0"/>
              </a:spcBef>
            </a:pPr>
          </a:p>
          <a:p>
            <a:pPr algn="l" marL="724116" indent="-362058" lvl="1">
              <a:lnSpc>
                <a:spcPts val="4695"/>
              </a:lnSpc>
              <a:buFont typeface="Arial"/>
              <a:buChar char="•"/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The top rows (SEOG) capture the 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igh-energy artefacts.</a:t>
            </a:r>
          </a:p>
          <a:p>
            <a:pPr algn="l" marL="724116" indent="-362058" lvl="1">
              <a:lnSpc>
                <a:spcPts val="4695"/>
              </a:lnSpc>
              <a:buFont typeface="Arial"/>
              <a:buChar char="•"/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The bottom rows (SEEG) capture the desired brain signals.</a:t>
            </a:r>
          </a:p>
          <a:p>
            <a:pPr algn="l">
              <a:lnSpc>
                <a:spcPts val="4695"/>
              </a:lnSpc>
              <a:spcBef>
                <a:spcPct val="0"/>
              </a:spcBef>
            </a:pPr>
            <a:r>
              <a:rPr lang="en-US" b="true" sz="3353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Reconstruction (The Solution): 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To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recover the clean EEG (F), we reconstruct the matrix u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ng only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th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subspa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e componen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s c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orr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esp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on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ing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to the EEG (from index </a:t>
            </a:r>
            <a:r>
              <a:rPr lang="en-US" sz="3353" i="true">
                <a:solidFill>
                  <a:srgbClr val="474A5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+ 1 to</a:t>
            </a:r>
            <a:r>
              <a:rPr lang="en-US" sz="3353" i="true">
                <a:solidFill>
                  <a:srgbClr val="474A5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P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):</a:t>
            </a:r>
          </a:p>
          <a:p>
            <a:pPr algn="l">
              <a:lnSpc>
                <a:spcPts val="4695"/>
              </a:lnSpc>
              <a:spcBef>
                <a:spcPct val="0"/>
              </a:spcBef>
            </a:pPr>
          </a:p>
          <a:p>
            <a:pPr algn="l">
              <a:lnSpc>
                <a:spcPts val="4695"/>
              </a:lnSpc>
              <a:spcBef>
                <a:spcPct val="0"/>
              </a:spcBef>
            </a:pPr>
          </a:p>
          <a:p>
            <a:pPr algn="l" marL="724116" indent="-362058" lvl="1">
              <a:lnSpc>
                <a:spcPts val="4695"/>
              </a:lnSpc>
              <a:buFont typeface="Arial"/>
              <a:buChar char="•"/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This effectively filters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out the rank-</a:t>
            </a:r>
            <a:r>
              <a:rPr lang="en-US" sz="3353" i="true">
                <a:solidFill>
                  <a:srgbClr val="474A5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artefact component from the data.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02049" y="1937108"/>
            <a:ext cx="753593" cy="53395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784696" y="1993313"/>
            <a:ext cx="9738360" cy="2992038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087976" y="6492287"/>
            <a:ext cx="8538041" cy="21129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5654" y="346611"/>
            <a:ext cx="17251519" cy="9034181"/>
            <a:chOff x="0" y="0"/>
            <a:chExt cx="4543610" cy="23793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3610" cy="2379373"/>
            </a:xfrm>
            <a:custGeom>
              <a:avLst/>
              <a:gdLst/>
              <a:ahLst/>
              <a:cxnLst/>
              <a:rect r="r" b="b" t="t" l="l"/>
              <a:pathLst>
                <a:path h="2379373" w="4543610">
                  <a:moveTo>
                    <a:pt x="0" y="0"/>
                  </a:moveTo>
                  <a:lnTo>
                    <a:pt x="4543610" y="0"/>
                  </a:lnTo>
                  <a:lnTo>
                    <a:pt x="4543610" y="2379373"/>
                  </a:lnTo>
                  <a:lnTo>
                    <a:pt x="0" y="2379373"/>
                  </a:lnTo>
                  <a:close/>
                </a:path>
              </a:pathLst>
            </a:custGeom>
            <a:solidFill>
              <a:srgbClr val="F2E9DA"/>
            </a:solidFill>
            <a:ln w="76200" cap="sq">
              <a:solidFill>
                <a:srgbClr val="CDA083"/>
              </a:solidFill>
              <a:prstDash val="lg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3610" cy="2417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45775">
            <a:off x="-1184063" y="8384424"/>
            <a:ext cx="3237708" cy="3837801"/>
          </a:xfrm>
          <a:custGeom>
            <a:avLst/>
            <a:gdLst/>
            <a:ahLst/>
            <a:cxnLst/>
            <a:rect r="r" b="b" t="t" l="l"/>
            <a:pathLst>
              <a:path h="3837801" w="3237708">
                <a:moveTo>
                  <a:pt x="0" y="0"/>
                </a:moveTo>
                <a:lnTo>
                  <a:pt x="3237708" y="0"/>
                </a:lnTo>
                <a:lnTo>
                  <a:pt x="3237708" y="3837801"/>
                </a:lnTo>
                <a:lnTo>
                  <a:pt x="0" y="3837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8331">
            <a:off x="16816883" y="7573166"/>
            <a:ext cx="2194809" cy="4697061"/>
          </a:xfrm>
          <a:custGeom>
            <a:avLst/>
            <a:gdLst/>
            <a:ahLst/>
            <a:cxnLst/>
            <a:rect r="r" b="b" t="t" l="l"/>
            <a:pathLst>
              <a:path h="4697061" w="2194809">
                <a:moveTo>
                  <a:pt x="0" y="0"/>
                </a:moveTo>
                <a:lnTo>
                  <a:pt x="2194809" y="0"/>
                </a:lnTo>
                <a:lnTo>
                  <a:pt x="2194809" y="4697061"/>
                </a:lnTo>
                <a:lnTo>
                  <a:pt x="0" y="4697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67846" y="847799"/>
            <a:ext cx="13552309" cy="88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32"/>
              </a:lnSpc>
            </a:pPr>
            <a:r>
              <a:rPr lang="en-US" sz="6100">
                <a:solidFill>
                  <a:srgbClr val="474A53"/>
                </a:solidFill>
                <a:latin typeface="Knewave"/>
                <a:ea typeface="Knewave"/>
                <a:cs typeface="Knewave"/>
                <a:sym typeface="Knewave"/>
              </a:rPr>
              <a:t>Rank Estimation &amp; Orthogonality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5507" y="2613768"/>
            <a:ext cx="16611812" cy="528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5"/>
              </a:lnSpc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true" sz="3353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Why this works: 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The method relies on the Ort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ho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gonality Condition: EEG    EOG. If</a:t>
            </a:r>
          </a:p>
          <a:p>
            <a:pPr algn="l">
              <a:lnSpc>
                <a:spcPts val="4695"/>
              </a:lnSpc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they were correlated, the subspaces would mix, and SVD would fail t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separate them cleanly.</a:t>
            </a:r>
          </a:p>
          <a:p>
            <a:pPr algn="l">
              <a:lnSpc>
                <a:spcPts val="4695"/>
              </a:lnSpc>
            </a:pPr>
          </a:p>
          <a:p>
            <a:pPr algn="l">
              <a:lnSpc>
                <a:spcPts val="4695"/>
              </a:lnSpc>
              <a:spcBef>
                <a:spcPct val="0"/>
              </a:spcBef>
            </a:pPr>
            <a:r>
              <a:rPr lang="en-US" b="true" sz="3353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Rank Selection (r): 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In the study, 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singular values were grouped. The highest singular value (     ) corresponded to the EOG (r = 1) because EOG power &gt; EEG power.</a:t>
            </a:r>
          </a:p>
          <a:p>
            <a:pPr algn="l">
              <a:lnSpc>
                <a:spcPts val="4695"/>
              </a:lnSpc>
              <a:spcBef>
                <a:spcPct val="0"/>
              </a:spcBef>
            </a:pPr>
          </a:p>
          <a:p>
            <a:pPr algn="l">
              <a:lnSpc>
                <a:spcPts val="4695"/>
              </a:lnSpc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Typically, the effective number of linearly independent EOG signals is 1 (r = 1)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due to the high correlation between left and right eye movements.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968299" y="2730528"/>
            <a:ext cx="418160" cy="368819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11603" y="5649126"/>
            <a:ext cx="751337" cy="4854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5654" y="346611"/>
            <a:ext cx="17251519" cy="9034181"/>
            <a:chOff x="0" y="0"/>
            <a:chExt cx="4543610" cy="23793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3610" cy="2379373"/>
            </a:xfrm>
            <a:custGeom>
              <a:avLst/>
              <a:gdLst/>
              <a:ahLst/>
              <a:cxnLst/>
              <a:rect r="r" b="b" t="t" l="l"/>
              <a:pathLst>
                <a:path h="2379373" w="4543610">
                  <a:moveTo>
                    <a:pt x="0" y="0"/>
                  </a:moveTo>
                  <a:lnTo>
                    <a:pt x="4543610" y="0"/>
                  </a:lnTo>
                  <a:lnTo>
                    <a:pt x="4543610" y="2379373"/>
                  </a:lnTo>
                  <a:lnTo>
                    <a:pt x="0" y="2379373"/>
                  </a:lnTo>
                  <a:close/>
                </a:path>
              </a:pathLst>
            </a:custGeom>
            <a:solidFill>
              <a:srgbClr val="F2E9DA"/>
            </a:solidFill>
            <a:ln w="76200" cap="sq">
              <a:solidFill>
                <a:srgbClr val="CDA083"/>
              </a:solidFill>
              <a:prstDash val="lg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3610" cy="2417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45775">
            <a:off x="-1184063" y="8384424"/>
            <a:ext cx="3237708" cy="3837801"/>
          </a:xfrm>
          <a:custGeom>
            <a:avLst/>
            <a:gdLst/>
            <a:ahLst/>
            <a:cxnLst/>
            <a:rect r="r" b="b" t="t" l="l"/>
            <a:pathLst>
              <a:path h="3837801" w="3237708">
                <a:moveTo>
                  <a:pt x="0" y="0"/>
                </a:moveTo>
                <a:lnTo>
                  <a:pt x="3237708" y="0"/>
                </a:lnTo>
                <a:lnTo>
                  <a:pt x="3237708" y="3837801"/>
                </a:lnTo>
                <a:lnTo>
                  <a:pt x="0" y="3837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8331">
            <a:off x="16816883" y="7573166"/>
            <a:ext cx="2194809" cy="4697061"/>
          </a:xfrm>
          <a:custGeom>
            <a:avLst/>
            <a:gdLst/>
            <a:ahLst/>
            <a:cxnLst/>
            <a:rect r="r" b="b" t="t" l="l"/>
            <a:pathLst>
              <a:path h="4697061" w="2194809">
                <a:moveTo>
                  <a:pt x="0" y="0"/>
                </a:moveTo>
                <a:lnTo>
                  <a:pt x="2194809" y="0"/>
                </a:lnTo>
                <a:lnTo>
                  <a:pt x="2194809" y="4697061"/>
                </a:lnTo>
                <a:lnTo>
                  <a:pt x="0" y="4697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67846" y="598870"/>
            <a:ext cx="13552309" cy="174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32"/>
              </a:lnSpc>
            </a:pPr>
            <a:r>
              <a:rPr lang="en-US" sz="6100">
                <a:solidFill>
                  <a:srgbClr val="474A53"/>
                </a:solidFill>
                <a:latin typeface="Knewave"/>
                <a:ea typeface="Knewave"/>
                <a:cs typeface="Knewave"/>
                <a:sym typeface="Knewave"/>
              </a:rPr>
              <a:t>Results &amp; Quantitative Analysis According to the Paper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5507" y="2538550"/>
            <a:ext cx="16611812" cy="646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5"/>
              </a:lnSpc>
            </a:pPr>
            <a:r>
              <a:rPr lang="en-US" b="true" sz="3353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Signal-to-Noise Ratio (SNR):</a:t>
            </a:r>
          </a:p>
          <a:p>
            <a:pPr algn="l" marL="724116" indent="-362058" lvl="1">
              <a:lnSpc>
                <a:spcPts val="4695"/>
              </a:lnSpc>
              <a:buFont typeface="Arial"/>
              <a:buChar char="•"/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Input SNR (Contaminated): 9.5 dB.</a:t>
            </a:r>
          </a:p>
          <a:p>
            <a:pPr algn="l" marL="724116" indent="-362058" lvl="1">
              <a:lnSpc>
                <a:spcPts val="4695"/>
              </a:lnSpc>
              <a:buFont typeface="Arial"/>
              <a:buChar char="•"/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Output SNR (SVD Processed): ~10.07 dB.</a:t>
            </a:r>
          </a:p>
          <a:p>
            <a:pPr algn="l">
              <a:lnSpc>
                <a:spcPts val="4695"/>
              </a:lnSpc>
            </a:pPr>
            <a:r>
              <a:rPr lang="en-US" b="true" sz="3353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Spectral Analysis (Linear Prediction):</a:t>
            </a:r>
          </a:p>
          <a:p>
            <a:pPr algn="l" marL="724116" indent="-362058" lvl="1">
              <a:lnSpc>
                <a:spcPts val="4695"/>
              </a:lnSpc>
              <a:buFont typeface="Arial"/>
              <a:buChar char="•"/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Before SVD: The spectrum showed large low-frequency peaks (characteristic of eye</a:t>
            </a:r>
          </a:p>
          <a:p>
            <a:pPr algn="l" marL="724116" indent="-362058" lvl="1">
              <a:lnSpc>
                <a:spcPts val="4695"/>
              </a:lnSpc>
              <a:buFont typeface="Arial"/>
              <a:buChar char="•"/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movements).</a:t>
            </a:r>
          </a:p>
          <a:p>
            <a:pPr algn="l" marL="724116" indent="-362058" lvl="1">
              <a:lnSpc>
                <a:spcPts val="4695"/>
              </a:lnSpc>
              <a:buFont typeface="Arial"/>
              <a:buChar char="•"/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After SVD: The low-frequency artefact peaks were removed, matching the spectrum of the pure desired EEG.</a:t>
            </a:r>
          </a:p>
          <a:p>
            <a:pPr algn="l">
              <a:lnSpc>
                <a:spcPts val="4695"/>
              </a:lnSpc>
              <a:spcBef>
                <a:spcPct val="0"/>
              </a:spcBef>
            </a:pPr>
            <a:r>
              <a:rPr lang="en-US" b="true" sz="3353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Con</a:t>
            </a:r>
            <a:r>
              <a:rPr lang="en-US" b="true" sz="3353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clusion: 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The SVD technique successfully utilizes the energy difference and</a:t>
            </a:r>
          </a:p>
          <a:p>
            <a:pPr algn="l">
              <a:lnSpc>
                <a:spcPts val="4695"/>
              </a:lnSpc>
            </a:pP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orthogonality</a:t>
            </a:r>
            <a:r>
              <a:rPr lang="en-US" sz="33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to separate signal subspaces without needing complex filtering.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195388" y="1332947"/>
          <a:ext cx="5657850" cy="8172450"/>
        </p:xfrm>
        <a:graphic>
          <a:graphicData uri="http://schemas.openxmlformats.org/presentationml/2006/ole">
            <p:oleObj imgW="7289800" imgH="98044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903991" y="8003956"/>
            <a:ext cx="594108" cy="392674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682745" y="8656419"/>
            <a:ext cx="594108" cy="392674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99808" y="2174745"/>
            <a:ext cx="330430" cy="272839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025415" y="2846600"/>
            <a:ext cx="220286" cy="213087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476872" y="3479204"/>
            <a:ext cx="278598" cy="224606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480968" y="4150314"/>
            <a:ext cx="229457" cy="173943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304763" y="4728258"/>
            <a:ext cx="222055" cy="320746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822264" y="6243422"/>
            <a:ext cx="4018264" cy="1141299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56893" y="266455"/>
            <a:ext cx="17645812" cy="88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32"/>
              </a:lnSpc>
            </a:pPr>
            <a:r>
              <a:rPr lang="en-US" sz="6100">
                <a:solidFill>
                  <a:srgbClr val="474A53"/>
                </a:solidFill>
                <a:latin typeface="Knewave"/>
                <a:ea typeface="Knewave"/>
                <a:cs typeface="Knewave"/>
                <a:sym typeface="Knewave"/>
              </a:rPr>
              <a:t>Experimental Inputs &amp; Simulation Conditions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5654" y="346611"/>
            <a:ext cx="17251519" cy="9034181"/>
            <a:chOff x="0" y="0"/>
            <a:chExt cx="4543610" cy="23793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3610" cy="2379373"/>
            </a:xfrm>
            <a:custGeom>
              <a:avLst/>
              <a:gdLst/>
              <a:ahLst/>
              <a:cxnLst/>
              <a:rect r="r" b="b" t="t" l="l"/>
              <a:pathLst>
                <a:path h="2379373" w="4543610">
                  <a:moveTo>
                    <a:pt x="0" y="0"/>
                  </a:moveTo>
                  <a:lnTo>
                    <a:pt x="4543610" y="0"/>
                  </a:lnTo>
                  <a:lnTo>
                    <a:pt x="4543610" y="2379373"/>
                  </a:lnTo>
                  <a:lnTo>
                    <a:pt x="0" y="2379373"/>
                  </a:lnTo>
                  <a:close/>
                </a:path>
              </a:pathLst>
            </a:custGeom>
            <a:solidFill>
              <a:srgbClr val="F2E9DA"/>
            </a:solidFill>
            <a:ln w="76200" cap="sq">
              <a:solidFill>
                <a:srgbClr val="CDA083"/>
              </a:solidFill>
              <a:prstDash val="lg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3610" cy="2417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45775">
            <a:off x="-1184063" y="8384424"/>
            <a:ext cx="3237708" cy="3837801"/>
          </a:xfrm>
          <a:custGeom>
            <a:avLst/>
            <a:gdLst/>
            <a:ahLst/>
            <a:cxnLst/>
            <a:rect r="r" b="b" t="t" l="l"/>
            <a:pathLst>
              <a:path h="3837801" w="3237708">
                <a:moveTo>
                  <a:pt x="0" y="0"/>
                </a:moveTo>
                <a:lnTo>
                  <a:pt x="3237708" y="0"/>
                </a:lnTo>
                <a:lnTo>
                  <a:pt x="3237708" y="3837801"/>
                </a:lnTo>
                <a:lnTo>
                  <a:pt x="0" y="3837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8331">
            <a:off x="16816883" y="7573166"/>
            <a:ext cx="2194809" cy="4697061"/>
          </a:xfrm>
          <a:custGeom>
            <a:avLst/>
            <a:gdLst/>
            <a:ahLst/>
            <a:cxnLst/>
            <a:rect r="r" b="b" t="t" l="l"/>
            <a:pathLst>
              <a:path h="4697061" w="2194809">
                <a:moveTo>
                  <a:pt x="0" y="0"/>
                </a:moveTo>
                <a:lnTo>
                  <a:pt x="2194809" y="0"/>
                </a:lnTo>
                <a:lnTo>
                  <a:pt x="2194809" y="4697061"/>
                </a:lnTo>
                <a:lnTo>
                  <a:pt x="0" y="4697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67846" y="847799"/>
            <a:ext cx="13552309" cy="174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2"/>
              </a:lnSpc>
            </a:pPr>
            <a:r>
              <a:rPr lang="en-US" sz="6100">
                <a:solidFill>
                  <a:srgbClr val="474A53"/>
                </a:solidFill>
                <a:latin typeface="Knewave"/>
                <a:ea typeface="Knewave"/>
                <a:cs typeface="Knewave"/>
                <a:sym typeface="Knewave"/>
              </a:rPr>
              <a:t>  Time-Domain Reconstruction</a:t>
            </a:r>
          </a:p>
          <a:p>
            <a:pPr algn="ctr" marL="0" indent="0" lvl="0">
              <a:lnSpc>
                <a:spcPts val="683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90282" y="3248996"/>
            <a:ext cx="17063265" cy="483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3"/>
              </a:lnSpc>
            </a:pPr>
            <a:r>
              <a:rPr lang="en-US" sz="3445" b="true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•⁠  ⁠Input </a:t>
            </a:r>
            <a:r>
              <a:rPr lang="en-US" b="true" sz="3445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Signal Quality: </a:t>
            </a:r>
            <a:r>
              <a:rPr lang="en-US" sz="3445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The simulation im</a:t>
            </a:r>
            <a:r>
              <a:rPr lang="en-US" sz="3445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posed a harsh artifact-dominant environment with an Input SNR of -9.50 dB.</a:t>
            </a:r>
          </a:p>
          <a:p>
            <a:pPr algn="l">
              <a:lnSpc>
                <a:spcPts val="4823"/>
              </a:lnSpc>
            </a:pPr>
          </a:p>
          <a:p>
            <a:pPr algn="l">
              <a:lnSpc>
                <a:spcPts val="4823"/>
              </a:lnSpc>
            </a:pPr>
            <a:r>
              <a:rPr lang="en-US" b="true" sz="3445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•⁠  ⁠Reconstruction Fidelity:</a:t>
            </a:r>
          </a:p>
          <a:p>
            <a:pPr algn="l">
              <a:lnSpc>
                <a:spcPts val="4823"/>
              </a:lnSpc>
            </a:pPr>
            <a:r>
              <a:rPr lang="en-US" b="true" sz="3445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•⁠  ⁠Single Reference ():</a:t>
            </a:r>
            <a:r>
              <a:rPr lang="en-US" sz="3445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Achieved an Output SNR of 13.83 dB.</a:t>
            </a:r>
          </a:p>
          <a:p>
            <a:pPr algn="l">
              <a:lnSpc>
                <a:spcPts val="4823"/>
              </a:lnSpc>
            </a:pPr>
            <a:r>
              <a:rPr lang="en-US" b="true" sz="3445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•⁠  ⁠Dual Reference (): </a:t>
            </a:r>
            <a:r>
              <a:rPr lang="en-US" sz="3445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Achieved an Output SNR of 19.16 dB.</a:t>
            </a:r>
          </a:p>
          <a:p>
            <a:pPr algn="l">
              <a:lnSpc>
                <a:spcPts val="4823"/>
              </a:lnSpc>
            </a:pPr>
          </a:p>
          <a:p>
            <a:pPr algn="l">
              <a:lnSpc>
                <a:spcPts val="4823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5387" y="342459"/>
            <a:ext cx="14659666" cy="9602082"/>
          </a:xfrm>
          <a:custGeom>
            <a:avLst/>
            <a:gdLst/>
            <a:ahLst/>
            <a:cxnLst/>
            <a:rect r="r" b="b" t="t" l="l"/>
            <a:pathLst>
              <a:path h="9602082" w="14659666">
                <a:moveTo>
                  <a:pt x="0" y="0"/>
                </a:moveTo>
                <a:lnTo>
                  <a:pt x="14659667" y="0"/>
                </a:lnTo>
                <a:lnTo>
                  <a:pt x="14659667" y="9602082"/>
                </a:lnTo>
                <a:lnTo>
                  <a:pt x="0" y="9602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5400000">
            <a:off x="9882266" y="4358322"/>
            <a:ext cx="13552309" cy="157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5500">
                <a:solidFill>
                  <a:srgbClr val="474A53"/>
                </a:solidFill>
                <a:latin typeface="Knewave"/>
                <a:ea typeface="Knewave"/>
                <a:cs typeface="Knewave"/>
                <a:sym typeface="Knewave"/>
              </a:rPr>
              <a:t>Time-Domain Reconstruction</a:t>
            </a:r>
          </a:p>
          <a:p>
            <a:pPr algn="ctr" marL="0" indent="0" lvl="0">
              <a:lnSpc>
                <a:spcPts val="616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5654" y="346611"/>
            <a:ext cx="17251519" cy="9575085"/>
            <a:chOff x="0" y="0"/>
            <a:chExt cx="4543610" cy="25218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3610" cy="2521833"/>
            </a:xfrm>
            <a:custGeom>
              <a:avLst/>
              <a:gdLst/>
              <a:ahLst/>
              <a:cxnLst/>
              <a:rect r="r" b="b" t="t" l="l"/>
              <a:pathLst>
                <a:path h="2521833" w="4543610">
                  <a:moveTo>
                    <a:pt x="0" y="0"/>
                  </a:moveTo>
                  <a:lnTo>
                    <a:pt x="4543610" y="0"/>
                  </a:lnTo>
                  <a:lnTo>
                    <a:pt x="4543610" y="2521833"/>
                  </a:lnTo>
                  <a:lnTo>
                    <a:pt x="0" y="2521833"/>
                  </a:lnTo>
                  <a:close/>
                </a:path>
              </a:pathLst>
            </a:custGeom>
            <a:solidFill>
              <a:srgbClr val="F2E9DA"/>
            </a:solidFill>
            <a:ln w="76200" cap="sq">
              <a:solidFill>
                <a:srgbClr val="CDA083"/>
              </a:solidFill>
              <a:prstDash val="lg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3610" cy="2559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45775">
            <a:off x="-1184063" y="8384424"/>
            <a:ext cx="3237708" cy="3837801"/>
          </a:xfrm>
          <a:custGeom>
            <a:avLst/>
            <a:gdLst/>
            <a:ahLst/>
            <a:cxnLst/>
            <a:rect r="r" b="b" t="t" l="l"/>
            <a:pathLst>
              <a:path h="3837801" w="3237708">
                <a:moveTo>
                  <a:pt x="0" y="0"/>
                </a:moveTo>
                <a:lnTo>
                  <a:pt x="3237708" y="0"/>
                </a:lnTo>
                <a:lnTo>
                  <a:pt x="3237708" y="3837801"/>
                </a:lnTo>
                <a:lnTo>
                  <a:pt x="0" y="3837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8331">
            <a:off x="16816883" y="7573166"/>
            <a:ext cx="2194809" cy="4697061"/>
          </a:xfrm>
          <a:custGeom>
            <a:avLst/>
            <a:gdLst/>
            <a:ahLst/>
            <a:cxnLst/>
            <a:rect r="r" b="b" t="t" l="l"/>
            <a:pathLst>
              <a:path h="4697061" w="2194809">
                <a:moveTo>
                  <a:pt x="0" y="0"/>
                </a:moveTo>
                <a:lnTo>
                  <a:pt x="2194809" y="0"/>
                </a:lnTo>
                <a:lnTo>
                  <a:pt x="2194809" y="4697061"/>
                </a:lnTo>
                <a:lnTo>
                  <a:pt x="0" y="4697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67846" y="847799"/>
            <a:ext cx="13552309" cy="88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2"/>
              </a:lnSpc>
            </a:pPr>
            <a:r>
              <a:rPr lang="en-US" sz="6100">
                <a:solidFill>
                  <a:srgbClr val="474A53"/>
                </a:solidFill>
                <a:latin typeface="Knewave"/>
                <a:ea typeface="Knewave"/>
                <a:cs typeface="Knewave"/>
                <a:sym typeface="Knewave"/>
              </a:rPr>
              <a:t> Spectral Analysis &amp; Validation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8167" y="1924658"/>
            <a:ext cx="16931665" cy="772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153" b="true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Frequency-Domain Observations</a:t>
            </a:r>
          </a:p>
          <a:p>
            <a:pPr algn="l">
              <a:lnSpc>
                <a:spcPts val="4415"/>
              </a:lnSpc>
            </a:pPr>
            <a:r>
              <a:rPr lang="en-US" sz="3153" b="true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•⁠  ⁠Arte</a:t>
            </a:r>
            <a:r>
              <a:rPr lang="en-US" b="true" sz="3153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fact Elimination: </a:t>
            </a:r>
            <a:r>
              <a:rPr lang="en-US" sz="31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The power spectral density (PSD) of the contaminat</a:t>
            </a:r>
            <a:r>
              <a:rPr lang="en-US" sz="31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ed signal (dashed line) displays a dominant high-energy peak in the 0–5 Hz band, corresponding to the ocular artefact components. The SVD-processed output (dotted line) shows complete suppression of this spectral noise.</a:t>
            </a:r>
          </a:p>
          <a:p>
            <a:pPr algn="l">
              <a:lnSpc>
                <a:spcPts val="4415"/>
              </a:lnSpc>
            </a:pPr>
            <a:r>
              <a:rPr lang="en-US" b="true" sz="3153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•⁠  ⁠Physiological Preservation: </a:t>
            </a:r>
            <a:r>
              <a:rPr lang="en-US" sz="31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Crucially, the spectral peaks corresponding to the Alpha (10 Hz) and Beta (20 Hz) neural bands are preserved with high fidelity.</a:t>
            </a:r>
          </a:p>
          <a:p>
            <a:pPr algn="l">
              <a:lnSpc>
                <a:spcPts val="4415"/>
              </a:lnSpc>
            </a:pPr>
          </a:p>
          <a:p>
            <a:pPr algn="l">
              <a:lnSpc>
                <a:spcPts val="4415"/>
              </a:lnSpc>
            </a:pPr>
            <a:r>
              <a:rPr lang="en-US" b="true" sz="3153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Methodological Validation</a:t>
            </a:r>
          </a:p>
          <a:p>
            <a:pPr algn="l">
              <a:lnSpc>
                <a:spcPts val="4415"/>
              </a:lnSpc>
            </a:pPr>
            <a:r>
              <a:rPr lang="en-US" b="true" sz="3153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•⁠  ⁠Spectral Selectivity: </a:t>
            </a:r>
            <a:r>
              <a:rPr lang="en-US" sz="31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The results confirm that the algorithm achieves precise spectral separation based on signal covariance rather than hard frequency cutoffs.</a:t>
            </a:r>
          </a:p>
          <a:p>
            <a:pPr algn="l">
              <a:lnSpc>
                <a:spcPts val="4415"/>
              </a:lnSpc>
            </a:pPr>
            <a:r>
              <a:rPr lang="en-US" b="true" sz="3153">
                <a:solidFill>
                  <a:srgbClr val="474A53"/>
                </a:solidFill>
                <a:latin typeface="DM Sans Bold"/>
                <a:ea typeface="DM Sans Bold"/>
                <a:cs typeface="DM Sans Bold"/>
                <a:sym typeface="DM Sans Bold"/>
              </a:rPr>
              <a:t>•⁠  ⁠Signal Integrity: </a:t>
            </a:r>
            <a:r>
              <a:rPr lang="en-US" sz="31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lang="en-US" sz="31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overlap betwee</a:t>
            </a:r>
            <a:r>
              <a:rPr lang="en-US" sz="31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n the reconstructed signal spectrum and the ground truth (solid line) confirms that the subspace projection preserves the phase and amplitude of</a:t>
            </a:r>
            <a:r>
              <a:rPr lang="en-US" sz="3153">
                <a:solidFill>
                  <a:srgbClr val="474A53"/>
                </a:solidFill>
                <a:latin typeface="DM Sans"/>
                <a:ea typeface="DM Sans"/>
                <a:cs typeface="DM Sans"/>
                <a:sym typeface="DM Sans"/>
              </a:rPr>
              <a:t> the neurological components while selectively filtering the artifact subspace.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9339" y="358574"/>
            <a:ext cx="14417856" cy="9569852"/>
          </a:xfrm>
          <a:custGeom>
            <a:avLst/>
            <a:gdLst/>
            <a:ahLst/>
            <a:cxnLst/>
            <a:rect r="r" b="b" t="t" l="l"/>
            <a:pathLst>
              <a:path h="9569852" w="14417856">
                <a:moveTo>
                  <a:pt x="0" y="0"/>
                </a:moveTo>
                <a:lnTo>
                  <a:pt x="14417856" y="0"/>
                </a:lnTo>
                <a:lnTo>
                  <a:pt x="14417856" y="9569852"/>
                </a:lnTo>
                <a:lnTo>
                  <a:pt x="0" y="95698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5400000">
            <a:off x="10272792" y="4748848"/>
            <a:ext cx="13552309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5500">
                <a:solidFill>
                  <a:srgbClr val="474A53"/>
                </a:solidFill>
                <a:latin typeface="Knewave"/>
                <a:ea typeface="Knewave"/>
                <a:cs typeface="Knewave"/>
                <a:sym typeface="Knewave"/>
              </a:rPr>
              <a:t>Spectral Characterization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48414"/>
            <a:ext cx="16230600" cy="8390172"/>
            <a:chOff x="0" y="0"/>
            <a:chExt cx="4274726" cy="22097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209757"/>
            </a:xfrm>
            <a:custGeom>
              <a:avLst/>
              <a:gdLst/>
              <a:ahLst/>
              <a:cxnLst/>
              <a:rect r="r" b="b" t="t" l="l"/>
              <a:pathLst>
                <a:path h="220975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209757"/>
                  </a:lnTo>
                  <a:lnTo>
                    <a:pt x="0" y="2209757"/>
                  </a:lnTo>
                  <a:close/>
                </a:path>
              </a:pathLst>
            </a:custGeom>
            <a:solidFill>
              <a:srgbClr val="F2E9DA"/>
            </a:solidFill>
            <a:ln w="76200" cap="sq">
              <a:solidFill>
                <a:srgbClr val="CDA083"/>
              </a:solidFill>
              <a:prstDash val="lg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47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45775">
            <a:off x="-641346" y="6951854"/>
            <a:ext cx="4178745" cy="4953254"/>
          </a:xfrm>
          <a:custGeom>
            <a:avLst/>
            <a:gdLst/>
            <a:ahLst/>
            <a:cxnLst/>
            <a:rect r="r" b="b" t="t" l="l"/>
            <a:pathLst>
              <a:path h="4953254" w="4178745">
                <a:moveTo>
                  <a:pt x="0" y="0"/>
                </a:moveTo>
                <a:lnTo>
                  <a:pt x="4178746" y="0"/>
                </a:lnTo>
                <a:lnTo>
                  <a:pt x="4178746" y="4953254"/>
                </a:lnTo>
                <a:lnTo>
                  <a:pt x="0" y="4953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771138">
            <a:off x="15635300" y="-1854681"/>
            <a:ext cx="4601363" cy="5454202"/>
          </a:xfrm>
          <a:custGeom>
            <a:avLst/>
            <a:gdLst/>
            <a:ahLst/>
            <a:cxnLst/>
            <a:rect r="r" b="b" t="t" l="l"/>
            <a:pathLst>
              <a:path h="5454202" w="4601363">
                <a:moveTo>
                  <a:pt x="0" y="0"/>
                </a:moveTo>
                <a:lnTo>
                  <a:pt x="4601363" y="0"/>
                </a:lnTo>
                <a:lnTo>
                  <a:pt x="4601363" y="5454202"/>
                </a:lnTo>
                <a:lnTo>
                  <a:pt x="0" y="545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215717">
            <a:off x="15650436" y="6390941"/>
            <a:ext cx="2194809" cy="4697061"/>
          </a:xfrm>
          <a:custGeom>
            <a:avLst/>
            <a:gdLst/>
            <a:ahLst/>
            <a:cxnLst/>
            <a:rect r="r" b="b" t="t" l="l"/>
            <a:pathLst>
              <a:path h="4697061" w="2194809">
                <a:moveTo>
                  <a:pt x="0" y="0"/>
                </a:moveTo>
                <a:lnTo>
                  <a:pt x="2194808" y="0"/>
                </a:lnTo>
                <a:lnTo>
                  <a:pt x="2194808" y="4697061"/>
                </a:lnTo>
                <a:lnTo>
                  <a:pt x="0" y="4697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470566">
            <a:off x="-529418" y="-476032"/>
            <a:ext cx="3116237" cy="5528807"/>
          </a:xfrm>
          <a:custGeom>
            <a:avLst/>
            <a:gdLst/>
            <a:ahLst/>
            <a:cxnLst/>
            <a:rect r="r" b="b" t="t" l="l"/>
            <a:pathLst>
              <a:path h="5528807" w="3116237">
                <a:moveTo>
                  <a:pt x="0" y="0"/>
                </a:moveTo>
                <a:lnTo>
                  <a:pt x="3116236" y="0"/>
                </a:lnTo>
                <a:lnTo>
                  <a:pt x="3116236" y="5528807"/>
                </a:lnTo>
                <a:lnTo>
                  <a:pt x="0" y="55288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10504" y="3940596"/>
            <a:ext cx="10866992" cy="208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30"/>
              </a:lnSpc>
            </a:pPr>
            <a:r>
              <a:rPr lang="en-US" sz="11553" spc="577">
                <a:solidFill>
                  <a:srgbClr val="474A53"/>
                </a:solidFill>
                <a:latin typeface="Knewave"/>
                <a:ea typeface="Knewave"/>
                <a:cs typeface="Knewave"/>
                <a:sym typeface="Knewav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DAG8TD8GEWo</dc:identifier>
  <dcterms:modified xsi:type="dcterms:W3CDTF">2011-08-01T06:04:30Z</dcterms:modified>
  <cp:revision>1</cp:revision>
  <dc:title>Copy of Beige and Brown Boho Group Project Presentation</dc:title>
</cp:coreProperties>
</file>